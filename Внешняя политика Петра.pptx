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2" r:id="rId5"/>
    <p:sldId id="259" r:id="rId6"/>
    <p:sldId id="263" r:id="rId7"/>
    <p:sldId id="270" r:id="rId8"/>
    <p:sldId id="266" r:id="rId9"/>
    <p:sldId id="267" r:id="rId10"/>
    <p:sldId id="268" r:id="rId11"/>
    <p:sldId id="264" r:id="rId12"/>
    <p:sldId id="269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044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DF8B20-41E2-A3FE-88FD-D284D854D8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D344D42-82C4-B241-C1E1-89A9260BE7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F921FB-2126-B2BE-04A1-7C66FDA77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A426-3AE6-45AB-986E-44920BEBA447}" type="datetimeFigureOut">
              <a:rPr lang="ru-RU" smtClean="0"/>
              <a:t>05.03.2025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03DEB72-3B7E-E99C-C86A-115A22AD6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0DBB4C-AE35-EB02-9B86-C663044DC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B5C2-B96E-4287-9EE2-05327CCC9AA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93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9581ED-3B7D-6816-9493-58D9D2DD2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717B3E-1B48-0837-FB27-DEB3897DD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1598D7-125C-AA65-9478-B367FDB59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A426-3AE6-45AB-986E-44920BEBA447}" type="datetimeFigureOut">
              <a:rPr lang="ru-RU" smtClean="0"/>
              <a:t>05.03.2025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220D41-4F64-C8B3-586A-055C37DC5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CCCAD1-A88C-9920-C4B8-35B9C3E88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B5C2-B96E-4287-9EE2-05327CCC9AA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2648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F99C3F-C1CC-2F20-79B3-53C453051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F857A37-5EFD-D0DB-3B96-BD1E17C0E6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6C5523-D5E5-9655-7839-161C20125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A426-3AE6-45AB-986E-44920BEBA447}" type="datetimeFigureOut">
              <a:rPr lang="ru-RU" smtClean="0"/>
              <a:t>05.03.2025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8DA227-8468-0A5A-4E9F-0197EEA4A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6FA059-7818-A51C-1ADB-6ED61619E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B5C2-B96E-4287-9EE2-05327CCC9AA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8125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EEEB55-BB8C-C033-5A01-5E5484E83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52D89E-EEF6-0D71-1079-1DD3D4C8C9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718C1DB-AA5A-E8DA-37DF-68D9272B65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399B862-EEDC-2C79-1299-19FD6C30E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A426-3AE6-45AB-986E-44920BEBA447}" type="datetimeFigureOut">
              <a:rPr lang="ru-RU" smtClean="0"/>
              <a:t>05.03.2025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1923B5-E40E-80C8-C281-5BD8D587C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476D2FA-EC90-FF8C-7956-BA067AF45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B5C2-B96E-4287-9EE2-05327CCC9AA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48092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C9E3F0-5BF2-BAD1-1937-D7127CE9E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B52D775-6816-BD0C-4529-1FB4959A9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F58861A-F0B4-4E65-EBD0-7CF05758B3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FBFBB8A-94B4-841F-4EDC-A30834DA0D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F4C74DD-6703-ABB2-79FF-096BD0CE7A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3B02464-7C9A-82B1-C23C-07301305D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A426-3AE6-45AB-986E-44920BEBA447}" type="datetimeFigureOut">
              <a:rPr lang="ru-RU" smtClean="0"/>
              <a:t>05.03.2025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86098D0-17B6-810B-2F74-62D92415A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128BF8A-4059-0A29-58AF-449ABDC0C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B5C2-B96E-4287-9EE2-05327CCC9AA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08054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D87135-C03D-3E9D-169A-AEC4911B1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F876A0C-D0DF-7202-644D-648B17E34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A426-3AE6-45AB-986E-44920BEBA447}" type="datetimeFigureOut">
              <a:rPr lang="ru-RU" smtClean="0"/>
              <a:t>05.03.2025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432DEEA-FC55-A11E-E67B-2260A9EC5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27620B2-BAB9-A1DA-3FDB-672A8A560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B5C2-B96E-4287-9EE2-05327CCC9AA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70342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6A639C7-ED6D-AE26-8E82-A2FCF83E3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A426-3AE6-45AB-986E-44920BEBA447}" type="datetimeFigureOut">
              <a:rPr lang="ru-RU" smtClean="0"/>
              <a:t>05.03.2025</a:t>
            </a:fld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6F25351-7188-0DC2-A6FF-3D557F5EB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719BF0-1AD3-07BC-83CF-AA6EABC00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B5C2-B96E-4287-9EE2-05327CCC9AA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0192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88962E-D846-180F-5E39-593BC580F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53ECA0-E847-98B2-38CD-E3A99C779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0D57CD0-DB09-4F21-2831-7E80D05E4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44D41B8-3231-CB5C-6222-D126BBB37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A426-3AE6-45AB-986E-44920BEBA447}" type="datetimeFigureOut">
              <a:rPr lang="ru-RU" smtClean="0"/>
              <a:t>05.03.2025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C849BAA-DE69-3375-E358-DF339D797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5D53FCF-1726-5D59-F275-1546F5BA7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B5C2-B96E-4287-9EE2-05327CCC9AA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5411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2810D8-42A4-899F-E622-72CCA9437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360D0F8-4974-30AE-5BD7-3FE4BCD825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B48F381-E254-370F-80F7-504F51207A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86A1A4C-B2F5-7B14-22A4-F01C45E08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A426-3AE6-45AB-986E-44920BEBA447}" type="datetimeFigureOut">
              <a:rPr lang="ru-RU" smtClean="0"/>
              <a:t>05.03.2025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3440E4C-9F1F-160B-C13C-41ECEFFAB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EFDE1D-1034-2AE3-0518-7A7711870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B5C2-B96E-4287-9EE2-05327CCC9AA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9719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32276A-1077-240E-A85E-432227430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374C5C7-FCC2-0EC3-6B15-2653346CC9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E96B70-F86E-0142-4CFD-CB528BECD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A426-3AE6-45AB-986E-44920BEBA447}" type="datetimeFigureOut">
              <a:rPr lang="ru-RU" smtClean="0"/>
              <a:t>05.03.2025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3025B2-4B1A-E83D-7B48-9AE04C7CF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529F6F-594A-EC4F-9655-0249B01D1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B5C2-B96E-4287-9EE2-05327CCC9AA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1088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BD50C48-7DB0-8024-058E-CE0FA1F731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208A9A3-4B42-FD8D-AA55-087E7C8FB0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845FA09-DA16-C734-61EF-CC4B5626E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A426-3AE6-45AB-986E-44920BEBA447}" type="datetimeFigureOut">
              <a:rPr lang="ru-RU" smtClean="0"/>
              <a:t>05.03.2025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AD9E2D-054B-B224-8D6F-261998525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3651EB-87BC-D550-578B-BC6BE84BF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B5C2-B96E-4287-9EE2-05327CCC9AA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4168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3A0C23-0511-EDA9-0C73-48662A41C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9E6E7C9-BCA6-98D0-7814-DCB3C23FF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964350-0FFE-472B-C429-86CC2C25A3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DBA426-3AE6-45AB-986E-44920BEBA447}" type="datetimeFigureOut">
              <a:rPr lang="ru-RU" smtClean="0"/>
              <a:t>05.03.2025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537A5B-CD3B-6469-75A3-1EEB4D5AF8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F24C3D-E870-80F2-90B3-1EE4954B8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D7B5C2-B96E-4287-9EE2-05327CCC9AA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0103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microsoft.com/office/2007/relationships/hdphoto" Target="../media/hdphoto3.wdp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microsoft.com/office/2007/relationships/hdphoto" Target="../media/hdphoto5.wdp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microsoft.com/office/2007/relationships/hdphoto" Target="../media/hdphoto7.wdp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microsoft.com/office/2007/relationships/hdphoto" Target="../media/hdphoto8.wdp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0.wdp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2.wdp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D565EE11-641D-F88A-3882-740B74489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-10000" contrast="-1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42724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53746F-4759-057A-6EA3-3CB3EBD7E0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177828"/>
            <a:ext cx="9183232" cy="2405439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  <a:latin typeface="Garamond" panose="02020404030301010803" pitchFamily="18" charset="0"/>
              </a:rPr>
              <a:t>ВНЕШНЯЯ ПОЛИТИКА ПЕТРА </a:t>
            </a:r>
            <a:r>
              <a:rPr lang="en-US" i="0" dirty="0">
                <a:solidFill>
                  <a:schemeClr val="bg1"/>
                </a:solidFill>
                <a:effectLst/>
                <a:latin typeface="Garamond" panose="02020404030301010803" pitchFamily="18" charset="0"/>
              </a:rPr>
              <a:t> I</a:t>
            </a:r>
            <a:br>
              <a:rPr lang="en-US" b="1" i="0" dirty="0">
                <a:solidFill>
                  <a:schemeClr val="bg1"/>
                </a:solidFill>
                <a:effectLst/>
                <a:latin typeface="Garamond" panose="02020404030301010803" pitchFamily="18" charset="0"/>
              </a:rPr>
            </a:br>
            <a:endParaRPr lang="ru-RU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351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A0D61-414D-5205-AC1F-B54FE4C4F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C97627EF-32EC-EC64-B8A1-B3FFBD803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-10000" contrast="-1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42724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35D2C4-16F5-51C2-1853-5E4C679A10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177828"/>
            <a:ext cx="9183232" cy="2405439"/>
          </a:xfrm>
        </p:spPr>
        <p:txBody>
          <a:bodyPr>
            <a:normAutofit/>
          </a:bodyPr>
          <a:lstStyle/>
          <a:p>
            <a:br>
              <a:rPr lang="en-US" b="1" i="0" dirty="0">
                <a:solidFill>
                  <a:schemeClr val="bg1"/>
                </a:solidFill>
                <a:effectLst/>
                <a:latin typeface="Garamond" panose="02020404030301010803" pitchFamily="18" charset="0"/>
              </a:rPr>
            </a:br>
            <a:endParaRPr lang="ru-RU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pic>
        <p:nvPicPr>
          <p:cNvPr id="4098" name="Picture 2" descr="undefined">
            <a:extLst>
              <a:ext uri="{FF2B5EF4-FFF2-40B4-BE49-F238E27FC236}">
                <a16:creationId xmlns:a16="http://schemas.microsoft.com/office/drawing/2014/main" id="{A1C9C633-F69B-6B8F-F2B7-4B5108144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124" y="952500"/>
            <a:ext cx="5110327" cy="494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0B68B97-AE95-C4C6-D984-98D27D41F937}"/>
              </a:ext>
            </a:extLst>
          </p:cNvPr>
          <p:cNvSpPr txBox="1"/>
          <p:nvPr/>
        </p:nvSpPr>
        <p:spPr>
          <a:xfrm>
            <a:off x="190930" y="236777"/>
            <a:ext cx="7371920" cy="715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Garamond" panose="02020404030301010803" pitchFamily="18" charset="0"/>
              </a:rPr>
              <a:t>ПЕРВЫЙ АЗОВСКИЙ ПОХОД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1B91F7-7F88-AA31-1EC5-86BC0808DE3D}"/>
              </a:ext>
            </a:extLst>
          </p:cNvPr>
          <p:cNvSpPr txBox="1"/>
          <p:nvPr/>
        </p:nvSpPr>
        <p:spPr>
          <a:xfrm rot="10800000" flipV="1">
            <a:off x="830454" y="1541670"/>
            <a:ext cx="494717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effectLst/>
                <a:latin typeface="Garamond" panose="02020404030301010803" pitchFamily="18" charset="0"/>
                <a:ea typeface="Calibri" panose="020F0502020204030204" pitchFamily="34" charset="0"/>
              </a:rPr>
              <a:t>Осада Азова началась в июне 1695 года. Несколько месяцев русская армия вела обстрел крепости, но штурмы не приносили успеха.</a:t>
            </a:r>
          </a:p>
          <a:p>
            <a:r>
              <a:rPr lang="ru-RU" sz="2400" b="1" dirty="0">
                <a:solidFill>
                  <a:schemeClr val="bg1"/>
                </a:solidFill>
                <a:latin typeface="Garamond" panose="02020404030301010803" pitchFamily="18" charset="0"/>
                <a:ea typeface="Calibri" panose="020F0502020204030204" pitchFamily="34" charset="0"/>
              </a:rPr>
              <a:t>О</a:t>
            </a:r>
            <a:r>
              <a:rPr lang="ru-RU" sz="2400" b="1" dirty="0">
                <a:solidFill>
                  <a:schemeClr val="bg1"/>
                </a:solidFill>
                <a:effectLst/>
                <a:latin typeface="Garamond" panose="02020404030301010803" pitchFamily="18" charset="0"/>
                <a:ea typeface="Calibri" panose="020F0502020204030204" pitchFamily="34" charset="0"/>
              </a:rPr>
              <a:t>сманы продолжали получать провизию и боеприпасы с моря.</a:t>
            </a:r>
          </a:p>
          <a:p>
            <a:r>
              <a:rPr lang="ru-RU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В сентябре Петр был вынужден снять осаду и отступить.</a:t>
            </a:r>
          </a:p>
        </p:txBody>
      </p:sp>
    </p:spTree>
    <p:extLst>
      <p:ext uri="{BB962C8B-B14F-4D97-AF65-F5344CB8AC3E}">
        <p14:creationId xmlns:p14="http://schemas.microsoft.com/office/powerpoint/2010/main" val="3445397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25964-BC45-343F-A1C9-A29863C37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1A40F325-EF94-2BFA-AD20-2C334951C5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-10000" contrast="-1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42724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994E84-886B-1E6C-4034-DCA3001569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177828"/>
            <a:ext cx="9183232" cy="2405439"/>
          </a:xfrm>
        </p:spPr>
        <p:txBody>
          <a:bodyPr>
            <a:normAutofit/>
          </a:bodyPr>
          <a:lstStyle/>
          <a:p>
            <a:br>
              <a:rPr lang="en-US" b="1" i="0" dirty="0">
                <a:solidFill>
                  <a:schemeClr val="bg1"/>
                </a:solidFill>
                <a:effectLst/>
                <a:latin typeface="Garamond" panose="02020404030301010803" pitchFamily="18" charset="0"/>
              </a:rPr>
            </a:br>
            <a:endParaRPr lang="ru-RU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pic>
        <p:nvPicPr>
          <p:cNvPr id="4098" name="Picture 2" descr="undefined">
            <a:extLst>
              <a:ext uri="{FF2B5EF4-FFF2-40B4-BE49-F238E27FC236}">
                <a16:creationId xmlns:a16="http://schemas.microsoft.com/office/drawing/2014/main" id="{816464BD-F66E-11F2-1E14-3DAD7162B6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8998" y="958474"/>
            <a:ext cx="5110327" cy="494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7D00FD-03B1-4E33-846E-02105586E032}"/>
              </a:ext>
            </a:extLst>
          </p:cNvPr>
          <p:cNvSpPr txBox="1"/>
          <p:nvPr/>
        </p:nvSpPr>
        <p:spPr>
          <a:xfrm>
            <a:off x="190930" y="236777"/>
            <a:ext cx="7562420" cy="715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Garamond" panose="02020404030301010803" pitchFamily="18" charset="0"/>
              </a:rPr>
              <a:t>ВТОРОЙ АЗОВСКИЙ ПОХОД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196F50-F42C-D362-A2B4-FEB7883A038C}"/>
              </a:ext>
            </a:extLst>
          </p:cNvPr>
          <p:cNvSpPr txBox="1"/>
          <p:nvPr/>
        </p:nvSpPr>
        <p:spPr>
          <a:xfrm rot="10800000" flipV="1">
            <a:off x="801879" y="1911002"/>
            <a:ext cx="49471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effectLst/>
                <a:latin typeface="Garamond" panose="02020404030301010803" pitchFamily="18" charset="0"/>
                <a:ea typeface="Calibri" panose="020F0502020204030204" pitchFamily="34" charset="0"/>
              </a:rPr>
              <a:t>Весной 1696 года армия вновь двинулась к Азову, но на этот раз к ней присоединился и флот.</a:t>
            </a:r>
          </a:p>
          <a:p>
            <a:r>
              <a:rPr lang="ru-RU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Армия вновь осадила Азов, а корабли полностью перекрыли подвоз припасов. </a:t>
            </a:r>
          </a:p>
        </p:txBody>
      </p:sp>
    </p:spTree>
    <p:extLst>
      <p:ext uri="{BB962C8B-B14F-4D97-AF65-F5344CB8AC3E}">
        <p14:creationId xmlns:p14="http://schemas.microsoft.com/office/powerpoint/2010/main" val="1573650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7E680-CD59-EF1A-925B-C14A239D2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596677B3-BEAC-435D-449A-9838CD85C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-10000" contrast="-1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42724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9E930D-43AB-9052-4A71-BFFC9F7453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177828"/>
            <a:ext cx="9183232" cy="2405439"/>
          </a:xfrm>
        </p:spPr>
        <p:txBody>
          <a:bodyPr>
            <a:normAutofit/>
          </a:bodyPr>
          <a:lstStyle/>
          <a:p>
            <a:br>
              <a:rPr lang="en-US" b="1" i="0" dirty="0">
                <a:solidFill>
                  <a:schemeClr val="bg1"/>
                </a:solidFill>
                <a:effectLst/>
                <a:latin typeface="Garamond" panose="02020404030301010803" pitchFamily="18" charset="0"/>
              </a:rPr>
            </a:br>
            <a:endParaRPr lang="ru-RU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1E6C0A-FA1F-51DF-6480-F3666550FB84}"/>
              </a:ext>
            </a:extLst>
          </p:cNvPr>
          <p:cNvSpPr txBox="1"/>
          <p:nvPr/>
        </p:nvSpPr>
        <p:spPr>
          <a:xfrm>
            <a:off x="190930" y="236777"/>
            <a:ext cx="670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Garamond" panose="02020404030301010803" pitchFamily="18" charset="0"/>
              </a:rPr>
              <a:t>АЗОВСКИЕ ПОХОДЫ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FB351-BFFB-C4CB-A9D3-2D36DD4B3E65}"/>
              </a:ext>
            </a:extLst>
          </p:cNvPr>
          <p:cNvSpPr txBox="1"/>
          <p:nvPr/>
        </p:nvSpPr>
        <p:spPr>
          <a:xfrm rot="10800000" flipV="1">
            <a:off x="298518" y="1572777"/>
            <a:ext cx="556082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Garamond" panose="02020404030301010803" pitchFamily="18" charset="0"/>
              </a:rPr>
              <a:t>Захват Азова стал первым военным успехом Петра I.</a:t>
            </a:r>
          </a:p>
          <a:p>
            <a:r>
              <a:rPr lang="ru-RU" sz="2800" b="1" dirty="0">
                <a:solidFill>
                  <a:schemeClr val="bg1"/>
                </a:solidFill>
                <a:latin typeface="Garamond" panose="02020404030301010803" pitchFamily="18" charset="0"/>
              </a:rPr>
              <a:t>Завершив Азовские походы, с целью найти союзников в войне против Турции и Швеции и укрепить положение России, Пётр организует «Великое посольство».</a:t>
            </a:r>
          </a:p>
        </p:txBody>
      </p:sp>
      <p:pic>
        <p:nvPicPr>
          <p:cNvPr id="6150" name="Picture 6" descr="undefined">
            <a:extLst>
              <a:ext uri="{FF2B5EF4-FFF2-40B4-BE49-F238E27FC236}">
                <a16:creationId xmlns:a16="http://schemas.microsoft.com/office/drawing/2014/main" id="{A3D34475-E0EE-010B-2B5C-BC2BB9BB76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0274" y="1347712"/>
            <a:ext cx="6119046" cy="3764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8140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oltava | Sabaton Wiki | Fandom">
            <a:extLst>
              <a:ext uri="{FF2B5EF4-FFF2-40B4-BE49-F238E27FC236}">
                <a16:creationId xmlns:a16="http://schemas.microsoft.com/office/drawing/2014/main" id="{E059E0E9-0BDE-D580-B4C2-F051EEA8AC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86000"/>
            <a:ext cx="12506325" cy="12506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81453B-592E-37B3-EB98-BE972FBFED89}"/>
              </a:ext>
            </a:extLst>
          </p:cNvPr>
          <p:cNvSpPr txBox="1"/>
          <p:nvPr/>
        </p:nvSpPr>
        <p:spPr>
          <a:xfrm>
            <a:off x="279400" y="254000"/>
            <a:ext cx="6314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Garamond" panose="02020404030301010803" pitchFamily="18" charset="0"/>
              </a:rPr>
              <a:t>ВЕЛИКОЕ ПОСОЛЬСТВО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D1C3BA-7ABA-450D-1577-C661C924E2B6}"/>
              </a:ext>
            </a:extLst>
          </p:cNvPr>
          <p:cNvSpPr txBox="1"/>
          <p:nvPr/>
        </p:nvSpPr>
        <p:spPr>
          <a:xfrm>
            <a:off x="419100" y="1520338"/>
            <a:ext cx="1208722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effectLst/>
                <a:latin typeface="Garamond" panose="02020404030301010803" pitchFamily="18" charset="0"/>
                <a:ea typeface="Calibri" panose="020F0502020204030204" pitchFamily="34" charset="0"/>
              </a:rPr>
              <a:t>В марте 1697 года в Европу </a:t>
            </a:r>
            <a:r>
              <a:rPr lang="ru-RU" sz="2400" b="1" dirty="0">
                <a:solidFill>
                  <a:schemeClr val="bg1"/>
                </a:solidFill>
                <a:latin typeface="Garamond" panose="02020404030301010803" pitchFamily="18" charset="0"/>
                <a:ea typeface="Calibri" panose="020F0502020204030204" pitchFamily="34" charset="0"/>
              </a:rPr>
              <a:t>отправляется </a:t>
            </a:r>
          </a:p>
          <a:p>
            <a:r>
              <a:rPr lang="ru-RU" sz="2400" b="1" dirty="0">
                <a:solidFill>
                  <a:schemeClr val="bg1"/>
                </a:solidFill>
                <a:effectLst/>
                <a:latin typeface="Garamond" panose="02020404030301010803" pitchFamily="18" charset="0"/>
                <a:ea typeface="Calibri" panose="020F0502020204030204" pitchFamily="34" charset="0"/>
              </a:rPr>
              <a:t>Великое посольство - дипломатическая миссия.</a:t>
            </a:r>
          </a:p>
          <a:p>
            <a:endParaRPr lang="ru-RU" sz="2400" b="1" dirty="0">
              <a:solidFill>
                <a:schemeClr val="bg1"/>
              </a:solidFill>
              <a:latin typeface="Garamond" panose="02020404030301010803" pitchFamily="18" charset="0"/>
              <a:ea typeface="Calibri" panose="020F0502020204030204" pitchFamily="34" charset="0"/>
            </a:endParaRPr>
          </a:p>
          <a:p>
            <a:endParaRPr lang="ru-RU" sz="2400" b="1" dirty="0">
              <a:solidFill>
                <a:schemeClr val="bg1"/>
              </a:solidFill>
              <a:latin typeface="Garamond" panose="02020404030301010803" pitchFamily="18" charset="0"/>
              <a:ea typeface="Calibri" panose="020F0502020204030204" pitchFamily="34" charset="0"/>
            </a:endParaRPr>
          </a:p>
          <a:p>
            <a:endParaRPr lang="ru-RU" sz="2400" b="1" dirty="0">
              <a:solidFill>
                <a:schemeClr val="bg1"/>
              </a:solidFill>
              <a:effectLst/>
              <a:latin typeface="Garamond" panose="02020404030301010803" pitchFamily="18" charset="0"/>
              <a:ea typeface="Calibri" panose="020F0502020204030204" pitchFamily="34" charset="0"/>
            </a:endParaRPr>
          </a:p>
          <a:p>
            <a:endParaRPr lang="ru-RU" sz="2400" b="1" dirty="0">
              <a:solidFill>
                <a:schemeClr val="bg1"/>
              </a:solidFill>
              <a:effectLst/>
              <a:latin typeface="Garamond" panose="02020404030301010803" pitchFamily="18" charset="0"/>
              <a:ea typeface="Calibri" panose="020F0502020204030204" pitchFamily="34" charset="0"/>
            </a:endParaRPr>
          </a:p>
          <a:p>
            <a:r>
              <a:rPr lang="ru-RU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Цель -  установление военно-политических и культурно-экономических отношений</a:t>
            </a:r>
          </a:p>
          <a:p>
            <a:r>
              <a:rPr lang="ru-RU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с государствами Западной Европы.</a:t>
            </a:r>
          </a:p>
          <a:p>
            <a:endParaRPr lang="ru-RU" sz="2400" b="1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r>
              <a:rPr lang="ru-RU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Посольство завербовало корабельных мастеров, закупило вооружение.</a:t>
            </a:r>
          </a:p>
          <a:p>
            <a:endParaRPr lang="ru-RU" sz="2400" b="1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r>
              <a:rPr lang="ru-RU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Пётр I лично работал на верфях и изучал европейский быт, что впоследствии отразилось в его реформах. 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EB5D1B80-9310-E3D1-5EBD-3D812B781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0984" y="108642"/>
            <a:ext cx="4351916" cy="3607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6786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2F12C911-5F78-D673-8DF7-5BA57F421F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-6000" contras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8016" y="0"/>
            <a:ext cx="1272618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4F7DAE-A1BA-2999-3EAA-6E9F155B259F}"/>
              </a:ext>
            </a:extLst>
          </p:cNvPr>
          <p:cNvSpPr txBox="1"/>
          <p:nvPr/>
        </p:nvSpPr>
        <p:spPr>
          <a:xfrm>
            <a:off x="80660" y="154886"/>
            <a:ext cx="75774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Garamond" panose="02020404030301010803" pitchFamily="18" charset="0"/>
              </a:rPr>
              <a:t>НАЧАЛО СЕВЕРНОЙ ВОЙНЫ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837AA6-6520-0AC8-3992-03A075447D87}"/>
              </a:ext>
            </a:extLst>
          </p:cNvPr>
          <p:cNvSpPr txBox="1"/>
          <p:nvPr/>
        </p:nvSpPr>
        <p:spPr>
          <a:xfrm>
            <a:off x="7497501" y="40749"/>
            <a:ext cx="5120669" cy="6817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300" b="1" dirty="0">
                <a:solidFill>
                  <a:schemeClr val="bg1"/>
                </a:solidFill>
                <a:effectLst/>
                <a:latin typeface="Garamond" panose="02020404030301010803" pitchFamily="18" charset="0"/>
                <a:ea typeface="Calibri" panose="020F0502020204030204" pitchFamily="34" charset="0"/>
              </a:rPr>
              <a:t>В 1699 году Россия, Дания и Саксония создали Северный союз против Швеции.</a:t>
            </a:r>
          </a:p>
          <a:p>
            <a:endParaRPr lang="ru-RU" sz="2300" b="1" dirty="0">
              <a:solidFill>
                <a:schemeClr val="bg1"/>
              </a:solidFill>
              <a:effectLst/>
              <a:latin typeface="Garamond" panose="02020404030301010803" pitchFamily="18" charset="0"/>
              <a:ea typeface="Calibri" panose="020F0502020204030204" pitchFamily="34" charset="0"/>
            </a:endParaRPr>
          </a:p>
          <a:p>
            <a:r>
              <a:rPr lang="ru-RU" sz="2300" b="1" dirty="0">
                <a:solidFill>
                  <a:schemeClr val="bg1"/>
                </a:solidFill>
                <a:effectLst/>
                <a:latin typeface="Garamond" panose="02020404030301010803" pitchFamily="18" charset="0"/>
                <a:ea typeface="Calibri" panose="020F0502020204030204" pitchFamily="34" charset="0"/>
              </a:rPr>
              <a:t>Карл XII быстрыми операциями разбивал союзников по одиночке.</a:t>
            </a:r>
          </a:p>
          <a:p>
            <a:endParaRPr lang="ru-RU" sz="2300" b="1" dirty="0">
              <a:solidFill>
                <a:schemeClr val="bg1"/>
              </a:solidFill>
              <a:effectLst/>
              <a:latin typeface="Garamond" panose="02020404030301010803" pitchFamily="18" charset="0"/>
              <a:ea typeface="Calibri" panose="020F0502020204030204" pitchFamily="34" charset="0"/>
            </a:endParaRPr>
          </a:p>
          <a:p>
            <a:r>
              <a:rPr lang="ru-RU" sz="2300" b="1" dirty="0">
                <a:solidFill>
                  <a:schemeClr val="bg1"/>
                </a:solidFill>
                <a:effectLst/>
                <a:latin typeface="Garamond" panose="02020404030301010803" pitchFamily="18" charset="0"/>
                <a:ea typeface="Calibri" panose="020F0502020204030204" pitchFamily="34" charset="0"/>
              </a:rPr>
              <a:t>В 1700 году русская армия потерпела поражение под Нарвой: 9000 шведов разгромили 35-тысячное русское войско.</a:t>
            </a:r>
          </a:p>
          <a:p>
            <a:endParaRPr lang="ru-RU" sz="2300" b="1" dirty="0">
              <a:solidFill>
                <a:schemeClr val="bg1"/>
              </a:solidFill>
              <a:effectLst/>
              <a:latin typeface="Garamond" panose="02020404030301010803" pitchFamily="18" charset="0"/>
              <a:ea typeface="Calibri" panose="020F0502020204030204" pitchFamily="34" charset="0"/>
            </a:endParaRPr>
          </a:p>
          <a:p>
            <a:r>
              <a:rPr lang="ru-RU" sz="2300" b="1" dirty="0">
                <a:solidFill>
                  <a:schemeClr val="bg1"/>
                </a:solidFill>
                <a:effectLst/>
                <a:latin typeface="Garamond" panose="02020404030301010803" pitchFamily="18" charset="0"/>
                <a:ea typeface="Calibri" panose="020F0502020204030204" pitchFamily="34" charset="0"/>
              </a:rPr>
              <a:t>Несмотря на поражения, Пётр не отказался от войны, начал реформу армии и строительство флота.</a:t>
            </a:r>
          </a:p>
          <a:p>
            <a:endParaRPr lang="ru-RU" sz="2300" b="1" dirty="0">
              <a:solidFill>
                <a:schemeClr val="bg1"/>
              </a:solidFill>
              <a:effectLst/>
              <a:latin typeface="Garamond" panose="02020404030301010803" pitchFamily="18" charset="0"/>
              <a:ea typeface="Calibri" panose="020F0502020204030204" pitchFamily="34" charset="0"/>
            </a:endParaRPr>
          </a:p>
          <a:p>
            <a:r>
              <a:rPr lang="ru-RU" sz="2300" b="1" dirty="0">
                <a:solidFill>
                  <a:schemeClr val="bg1"/>
                </a:solidFill>
                <a:latin typeface="Garamond" panose="02020404030301010803" pitchFamily="18" charset="0"/>
                <a:ea typeface="Calibri" panose="020F0502020204030204" pitchFamily="34" charset="0"/>
              </a:rPr>
              <a:t>Уже в</a:t>
            </a:r>
            <a:r>
              <a:rPr lang="ru-RU" sz="2300" b="1" dirty="0">
                <a:solidFill>
                  <a:schemeClr val="bg1"/>
                </a:solidFill>
                <a:effectLst/>
                <a:latin typeface="Garamond" panose="02020404030301010803" pitchFamily="18" charset="0"/>
                <a:ea typeface="Calibri" panose="020F0502020204030204" pitchFamily="34" charset="0"/>
              </a:rPr>
              <a:t> 1703 году была взята крепость Ниеншанц, а затем основан Санкт-Петербург.</a:t>
            </a:r>
            <a:endParaRPr lang="ru-RU" sz="2300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A580FAE0-5CB9-A5BA-67E8-DB59CDBE8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  <a14:imgEffect>
                      <a14:brightnessContrast bright="-4000" contrast="-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210" y="1017658"/>
            <a:ext cx="6655472" cy="5024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5087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7FF4F-ACE8-144C-CDEE-88AA51E35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A889A22F-D78A-6C44-2052-85DDCD5977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-6000" contras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8016" y="0"/>
            <a:ext cx="1272618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5BB7F2-D4D1-12C8-EED8-03AAB80F7D5A}"/>
              </a:ext>
            </a:extLst>
          </p:cNvPr>
          <p:cNvSpPr txBox="1"/>
          <p:nvPr/>
        </p:nvSpPr>
        <p:spPr>
          <a:xfrm>
            <a:off x="80660" y="154886"/>
            <a:ext cx="75774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Garamond" panose="02020404030301010803" pitchFamily="18" charset="0"/>
              </a:rPr>
              <a:t>ПЕРЕЛОМНЫЙ МОМЕНТ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9DE54A-C7F7-F576-9D1F-738AEECF10B7}"/>
              </a:ext>
            </a:extLst>
          </p:cNvPr>
          <p:cNvSpPr txBox="1"/>
          <p:nvPr/>
        </p:nvSpPr>
        <p:spPr>
          <a:xfrm>
            <a:off x="7287951" y="1117074"/>
            <a:ext cx="5120669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300" b="1" dirty="0">
                <a:solidFill>
                  <a:schemeClr val="bg1"/>
                </a:solidFill>
                <a:effectLst/>
                <a:latin typeface="Garamond" panose="02020404030301010803" pitchFamily="18" charset="0"/>
                <a:ea typeface="Calibri" panose="020F0502020204030204" pitchFamily="34" charset="0"/>
              </a:rPr>
              <a:t>В 1708 году шведский корпус </a:t>
            </a:r>
            <a:r>
              <a:rPr lang="ru-RU" sz="2300" b="1" dirty="0" err="1">
                <a:solidFill>
                  <a:schemeClr val="bg1"/>
                </a:solidFill>
                <a:effectLst/>
                <a:latin typeface="Garamond" panose="02020404030301010803" pitchFamily="18" charset="0"/>
                <a:ea typeface="Calibri" panose="020F0502020204030204" pitchFamily="34" charset="0"/>
              </a:rPr>
              <a:t>Левенгаупта</a:t>
            </a:r>
            <a:r>
              <a:rPr lang="ru-RU" sz="2300" b="1" dirty="0">
                <a:solidFill>
                  <a:schemeClr val="bg1"/>
                </a:solidFill>
                <a:effectLst/>
                <a:latin typeface="Garamond" panose="02020404030301010803" pitchFamily="18" charset="0"/>
                <a:ea typeface="Calibri" panose="020F0502020204030204" pitchFamily="34" charset="0"/>
              </a:rPr>
              <a:t> был разгромлен в битве у Лесной, армия Карла XII лишилась подкрепления и припасов.</a:t>
            </a:r>
          </a:p>
          <a:p>
            <a:endParaRPr lang="ru-RU" sz="2300" b="1" dirty="0">
              <a:solidFill>
                <a:schemeClr val="bg1"/>
              </a:solidFill>
              <a:effectLst/>
              <a:latin typeface="Garamond" panose="02020404030301010803" pitchFamily="18" charset="0"/>
              <a:ea typeface="Calibri" panose="020F0502020204030204" pitchFamily="34" charset="0"/>
            </a:endParaRPr>
          </a:p>
          <a:p>
            <a:r>
              <a:rPr lang="ru-RU" sz="2300" b="1" dirty="0">
                <a:solidFill>
                  <a:schemeClr val="bg1"/>
                </a:solidFill>
                <a:effectLst/>
                <a:latin typeface="Garamond" panose="02020404030301010803" pitchFamily="18" charset="0"/>
                <a:ea typeface="Calibri" panose="020F0502020204030204" pitchFamily="34" charset="0"/>
              </a:rPr>
              <a:t> В Полтавской битве армия Карла XII была наголову разгромлена, шведский король с остатками солдат бежал в турецкие владения.</a:t>
            </a:r>
          </a:p>
          <a:p>
            <a:endParaRPr lang="ru-RU" sz="2300" b="1" dirty="0">
              <a:solidFill>
                <a:schemeClr val="bg1"/>
              </a:solidFill>
              <a:effectLst/>
              <a:latin typeface="Garamond" panose="02020404030301010803" pitchFamily="18" charset="0"/>
              <a:ea typeface="Calibri" panose="020F0502020204030204" pitchFamily="34" charset="0"/>
            </a:endParaRPr>
          </a:p>
          <a:p>
            <a:r>
              <a:rPr lang="ru-RU" sz="2300" b="1" dirty="0">
                <a:solidFill>
                  <a:schemeClr val="bg1"/>
                </a:solidFill>
                <a:effectLst/>
                <a:latin typeface="Garamond" panose="02020404030301010803" pitchFamily="18" charset="0"/>
                <a:ea typeface="Calibri" panose="020F0502020204030204" pitchFamily="34" charset="0"/>
              </a:rPr>
              <a:t>В 1710 году в войну вмешалась Турция</a:t>
            </a:r>
          </a:p>
        </p:txBody>
      </p:sp>
      <p:pic>
        <p:nvPicPr>
          <p:cNvPr id="3074" name="Picture 2" descr="undefined">
            <a:extLst>
              <a:ext uri="{FF2B5EF4-FFF2-40B4-BE49-F238E27FC236}">
                <a16:creationId xmlns:a16="http://schemas.microsoft.com/office/drawing/2014/main" id="{3BB7DC07-0D33-9F79-519C-E5151AA8A4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  <a14:imgEffect>
                      <a14:brightnessContrast bright="-10000" contrast="-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61" y="1017658"/>
            <a:ext cx="6655471" cy="5065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7463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BBA9C345-362E-0334-0F29-374CAB16B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-11000" contrast="-2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12114" y="0"/>
            <a:ext cx="135355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A1D306-3933-7169-7A39-D7F073EEACDF}"/>
              </a:ext>
            </a:extLst>
          </p:cNvPr>
          <p:cNvSpPr txBox="1"/>
          <p:nvPr/>
        </p:nvSpPr>
        <p:spPr>
          <a:xfrm>
            <a:off x="190930" y="236777"/>
            <a:ext cx="77713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Garamond" panose="02020404030301010803" pitchFamily="18" charset="0"/>
              </a:rPr>
              <a:t>РУССКО-ТУРЕЦКАЯ ВОЙНА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E96706-B0C4-D9EE-EC1A-8DCA133B872B}"/>
              </a:ext>
            </a:extLst>
          </p:cNvPr>
          <p:cNvSpPr txBox="1"/>
          <p:nvPr/>
        </p:nvSpPr>
        <p:spPr>
          <a:xfrm>
            <a:off x="190930" y="1692615"/>
            <a:ext cx="661944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effectLst/>
                <a:latin typeface="Garamond" panose="02020404030301010803" pitchFamily="18" charset="0"/>
                <a:ea typeface="Calibri" panose="020F0502020204030204" pitchFamily="34" charset="0"/>
              </a:rPr>
              <a:t>Русская Армия перешла границу Молдавии в июне 1711, но уже 20 июля 190 тысяч турок и крымских татар прижали русскую армию на реке Прут и полностью окружили её.</a:t>
            </a:r>
          </a:p>
          <a:p>
            <a:endParaRPr lang="ru-RU" sz="2400" b="1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r>
              <a:rPr lang="ru-RU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Армия уцелела, но Россия отдала Азов Турции и потеряла выход к Азовскому морю.</a:t>
            </a:r>
          </a:p>
        </p:txBody>
      </p:sp>
      <p:pic>
        <p:nvPicPr>
          <p:cNvPr id="4098" name="Picture 2" descr="undefined">
            <a:extLst>
              <a:ext uri="{FF2B5EF4-FFF2-40B4-BE49-F238E27FC236}">
                <a16:creationId xmlns:a16="http://schemas.microsoft.com/office/drawing/2014/main" id="{AD2FA551-9EB6-AE02-A401-D7096F823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6579" y="590720"/>
            <a:ext cx="4924491" cy="5902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25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D22F3-3BD7-B476-9060-05BC3DCF3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56909459-7111-77E5-EB10-0283AE2EB6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-6000" contras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8016" y="0"/>
            <a:ext cx="1272618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D3D9B4-9E42-9BCD-F4BF-48FAFBE5CEA2}"/>
              </a:ext>
            </a:extLst>
          </p:cNvPr>
          <p:cNvSpPr txBox="1"/>
          <p:nvPr/>
        </p:nvSpPr>
        <p:spPr>
          <a:xfrm>
            <a:off x="190929" y="236778"/>
            <a:ext cx="9009341" cy="705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Garamond" panose="02020404030301010803" pitchFamily="18" charset="0"/>
              </a:rPr>
              <a:t>ОКОНЧАНИЕ СЕВЕРНОЙ ВОЙНЫ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ACE809-8C37-2145-C80B-21A07738970C}"/>
              </a:ext>
            </a:extLst>
          </p:cNvPr>
          <p:cNvSpPr txBox="1"/>
          <p:nvPr/>
        </p:nvSpPr>
        <p:spPr>
          <a:xfrm>
            <a:off x="419100" y="1438275"/>
            <a:ext cx="1208722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effectLst/>
                <a:latin typeface="Garamond" panose="02020404030301010803" pitchFamily="18" charset="0"/>
                <a:ea typeface="Calibri" panose="020F0502020204030204" pitchFamily="34" charset="0"/>
              </a:rPr>
              <a:t>В 1713 году шведы лишились всех владений в континентальной Европе.</a:t>
            </a:r>
          </a:p>
          <a:p>
            <a:endParaRPr lang="ru-RU" sz="2400" b="1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r>
              <a:rPr lang="ru-RU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Русский флот смог одержать первую победу в </a:t>
            </a:r>
            <a:r>
              <a:rPr lang="ru-RU" sz="2400" b="1" dirty="0" err="1">
                <a:solidFill>
                  <a:schemeClr val="bg1"/>
                </a:solidFill>
                <a:latin typeface="Garamond" panose="02020404030301010803" pitchFamily="18" charset="0"/>
              </a:rPr>
              <a:t>Гангутском</a:t>
            </a:r>
            <a:r>
              <a:rPr lang="ru-RU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 сражении летом 1714 года, Швеция была в опасности.</a:t>
            </a:r>
          </a:p>
          <a:p>
            <a:endParaRPr lang="ru-RU" sz="2400" b="1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r>
              <a:rPr lang="ru-RU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30 августа 1721 года между Россией и Швецией был заключен Ништадтский мир.</a:t>
            </a:r>
          </a:p>
          <a:p>
            <a:endParaRPr lang="ru-RU" sz="2400" b="1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r>
              <a:rPr lang="ru-RU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Россия получила выход в Балтийское море, присоединила территорию </a:t>
            </a:r>
            <a:r>
              <a:rPr lang="ru-RU" sz="2400" b="1" dirty="0" err="1">
                <a:solidFill>
                  <a:schemeClr val="bg1"/>
                </a:solidFill>
                <a:latin typeface="Garamond" panose="02020404030301010803" pitchFamily="18" charset="0"/>
              </a:rPr>
              <a:t>Ингерманладии</a:t>
            </a:r>
            <a:r>
              <a:rPr lang="ru-RU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, часть Карелии, Эстляндию и Лифляндию.</a:t>
            </a:r>
          </a:p>
        </p:txBody>
      </p:sp>
    </p:spTree>
    <p:extLst>
      <p:ext uri="{BB962C8B-B14F-4D97-AF65-F5344CB8AC3E}">
        <p14:creationId xmlns:p14="http://schemas.microsoft.com/office/powerpoint/2010/main" val="1241819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D8FE9-49F4-3C81-62CF-4A1444500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oltava | Sabaton Wiki | Fandom">
            <a:extLst>
              <a:ext uri="{FF2B5EF4-FFF2-40B4-BE49-F238E27FC236}">
                <a16:creationId xmlns:a16="http://schemas.microsoft.com/office/drawing/2014/main" id="{2BEB1A2F-B87C-124B-A186-762A8872BA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86000"/>
            <a:ext cx="12506325" cy="12506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4F0AB3-C210-ADB4-683C-B693132F437E}"/>
              </a:ext>
            </a:extLst>
          </p:cNvPr>
          <p:cNvSpPr txBox="1"/>
          <p:nvPr/>
        </p:nvSpPr>
        <p:spPr>
          <a:xfrm>
            <a:off x="419100" y="304800"/>
            <a:ext cx="89386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Garamond" panose="02020404030301010803" pitchFamily="18" charset="0"/>
              </a:rPr>
              <a:t>ВТОРОЕ ПУТЕШЕСТВИЕ В ЕВРОПУ</a:t>
            </a:r>
          </a:p>
        </p:txBody>
      </p:sp>
      <p:pic>
        <p:nvPicPr>
          <p:cNvPr id="6146" name="Picture 2" descr="undefined">
            <a:extLst>
              <a:ext uri="{FF2B5EF4-FFF2-40B4-BE49-F238E27FC236}">
                <a16:creationId xmlns:a16="http://schemas.microsoft.com/office/drawing/2014/main" id="{75A1BE9E-5CB6-B453-2840-45D75AF94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0774" y="1203964"/>
            <a:ext cx="4332847" cy="5526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AF4F0F3-39B1-B0B7-D428-A60D44DEA118}"/>
              </a:ext>
            </a:extLst>
          </p:cNvPr>
          <p:cNvSpPr txBox="1"/>
          <p:nvPr/>
        </p:nvSpPr>
        <p:spPr>
          <a:xfrm>
            <a:off x="357593" y="2090172"/>
            <a:ext cx="310558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>
                <a:solidFill>
                  <a:schemeClr val="bg1"/>
                </a:solidFill>
                <a:latin typeface="Garamond" panose="02020404030301010803" pitchFamily="18" charset="0"/>
                <a:ea typeface="Calibri" panose="020F0502020204030204" pitchFamily="34" charset="0"/>
              </a:rPr>
              <a:t>Пётр </a:t>
            </a:r>
            <a:r>
              <a:rPr lang="ru-RU" sz="2400" b="1" dirty="0">
                <a:solidFill>
                  <a:schemeClr val="bg1"/>
                </a:solidFill>
                <a:effectLst/>
                <a:latin typeface="Garamond" panose="02020404030301010803" pitchFamily="18" charset="0"/>
                <a:ea typeface="Calibri" panose="020F0502020204030204" pitchFamily="34" charset="0"/>
              </a:rPr>
              <a:t>стремился укрепить дипломатические связи и позиции России в Европе после побед в Северной войне.</a:t>
            </a:r>
            <a:endParaRPr lang="ru-RU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19EE2A-8974-0AE3-F744-DFEC79B492DD}"/>
              </a:ext>
            </a:extLst>
          </p:cNvPr>
          <p:cNvSpPr txBox="1"/>
          <p:nvPr/>
        </p:nvSpPr>
        <p:spPr>
          <a:xfrm>
            <a:off x="8633810" y="1826603"/>
            <a:ext cx="310335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В Россию были приглашены французские инженеры, врачи, художники, и в целом усилилось влияние французской культуры при дворе.</a:t>
            </a:r>
          </a:p>
        </p:txBody>
      </p:sp>
    </p:spTree>
    <p:extLst>
      <p:ext uri="{BB962C8B-B14F-4D97-AF65-F5344CB8AC3E}">
        <p14:creationId xmlns:p14="http://schemas.microsoft.com/office/powerpoint/2010/main" val="3967202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Образ Петра в искусстве | Централизованная библиотечная система г.  Набережные Челны">
            <a:extLst>
              <a:ext uri="{FF2B5EF4-FFF2-40B4-BE49-F238E27FC236}">
                <a16:creationId xmlns:a16="http://schemas.microsoft.com/office/drawing/2014/main" id="{22E84C38-0C20-204E-A4B1-CD407F2974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-16000" contrast="-1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22821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DD1E4E2-EBFF-C1EF-9719-85CE3C5D30EB}"/>
              </a:ext>
            </a:extLst>
          </p:cNvPr>
          <p:cNvSpPr txBox="1"/>
          <p:nvPr/>
        </p:nvSpPr>
        <p:spPr>
          <a:xfrm>
            <a:off x="419100" y="304800"/>
            <a:ext cx="50690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Garamond" panose="02020404030301010803" pitchFamily="18" charset="0"/>
              </a:rPr>
              <a:t>ДВИЖЕНИЕ НА ВОСТОК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0CCA22-A89D-A10A-9F85-8B3EF9BA8707}"/>
              </a:ext>
            </a:extLst>
          </p:cNvPr>
          <p:cNvSpPr txBox="1"/>
          <p:nvPr/>
        </p:nvSpPr>
        <p:spPr>
          <a:xfrm>
            <a:off x="209550" y="1490036"/>
            <a:ext cx="579120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effectLst/>
                <a:latin typeface="Garamond" panose="02020404030301010803" pitchFamily="18" charset="0"/>
                <a:ea typeface="Calibri" panose="020F0502020204030204" pitchFamily="34" charset="0"/>
              </a:rPr>
              <a:t>В 1714 году экспедиция основала Омск, Усть-Каменогорск, Семипалатинск.</a:t>
            </a:r>
          </a:p>
          <a:p>
            <a:endParaRPr lang="ru-RU" sz="2400" b="1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r>
              <a:rPr lang="ru-RU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В 1716—17 годах в Среднюю Азию был собран Хивинский поход с целью разведать путь в Индию.</a:t>
            </a:r>
          </a:p>
          <a:p>
            <a:endParaRPr lang="ru-RU" sz="2400" b="1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r>
              <a:rPr lang="ru-RU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Также к России была присоединена Камчатка.</a:t>
            </a:r>
          </a:p>
        </p:txBody>
      </p:sp>
      <p:pic>
        <p:nvPicPr>
          <p:cNvPr id="7170" name="Picture 2" descr="Хивинский поход. Экспедиция, из которой не суждено было вернуться. | Время  Романовых | Дзен">
            <a:extLst>
              <a:ext uri="{FF2B5EF4-FFF2-40B4-BE49-F238E27FC236}">
                <a16:creationId xmlns:a16="http://schemas.microsoft.com/office/drawing/2014/main" id="{A290B153-E52B-AF78-5CBF-65012E1666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0" y="600461"/>
            <a:ext cx="5791200" cy="579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6008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1C880-FAEB-2C9C-A74E-54E3F17AD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F636599D-ECD1-00E6-54A7-897E37F6F0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-11000" contrast="-2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12114" y="0"/>
            <a:ext cx="135355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AA41AE-8389-5A82-A1C1-E4FC322A8368}"/>
              </a:ext>
            </a:extLst>
          </p:cNvPr>
          <p:cNvSpPr txBox="1"/>
          <p:nvPr/>
        </p:nvSpPr>
        <p:spPr>
          <a:xfrm>
            <a:off x="190930" y="236777"/>
            <a:ext cx="77713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Garamond" panose="02020404030301010803" pitchFamily="18" charset="0"/>
              </a:rPr>
              <a:t>КАСПИЙСКИЙ ПОХОД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F0577E-F89E-BE20-9BA6-070A379D80EA}"/>
              </a:ext>
            </a:extLst>
          </p:cNvPr>
          <p:cNvSpPr txBox="1"/>
          <p:nvPr/>
        </p:nvSpPr>
        <p:spPr>
          <a:xfrm>
            <a:off x="4991101" y="1079840"/>
            <a:ext cx="701039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effectLst/>
                <a:latin typeface="Garamond" panose="02020404030301010803" pitchFamily="18" charset="0"/>
                <a:ea typeface="Calibri" panose="020F0502020204030204" pitchFamily="34" charset="0"/>
              </a:rPr>
              <a:t>18 июня 1722 года из Астрахани отплыл 22-тысячный русский отряд.</a:t>
            </a:r>
          </a:p>
          <a:p>
            <a:endParaRPr lang="ru-RU" sz="2400" b="1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r>
              <a:rPr lang="ru-RU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В августе русская армия взяла Дербент, а в следующем году был завоёван западный берег Каспийского моря с крепостями Баку, и </a:t>
            </a:r>
            <a:r>
              <a:rPr lang="ru-RU" sz="2400" b="1" dirty="0" err="1">
                <a:solidFill>
                  <a:schemeClr val="bg1"/>
                </a:solidFill>
                <a:latin typeface="Garamond" panose="02020404030301010803" pitchFamily="18" charset="0"/>
              </a:rPr>
              <a:t>Астрабадом</a:t>
            </a:r>
            <a:r>
              <a:rPr lang="ru-RU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.</a:t>
            </a:r>
          </a:p>
          <a:p>
            <a:endParaRPr lang="ru-RU" sz="2400" b="1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r>
              <a:rPr lang="ru-RU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12 сентября 1723 года был заключён Петербургский договор с Персией, по которому в состав Российской империи включалось западное и южное побережье Каспия с городами Дербент и Баку и провинциями Гилян, Мазендеран и </a:t>
            </a:r>
            <a:r>
              <a:rPr lang="ru-RU" sz="2400" b="1" dirty="0" err="1">
                <a:solidFill>
                  <a:schemeClr val="bg1"/>
                </a:solidFill>
                <a:latin typeface="Garamond" panose="02020404030301010803" pitchFamily="18" charset="0"/>
              </a:rPr>
              <a:t>Астрабад</a:t>
            </a:r>
            <a:r>
              <a:rPr lang="ru-RU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.</a:t>
            </a:r>
          </a:p>
        </p:txBody>
      </p:sp>
      <p:pic>
        <p:nvPicPr>
          <p:cNvPr id="8194" name="Picture 2" descr="undefined">
            <a:extLst>
              <a:ext uri="{FF2B5EF4-FFF2-40B4-BE49-F238E27FC236}">
                <a16:creationId xmlns:a16="http://schemas.microsoft.com/office/drawing/2014/main" id="{842428AF-71E5-5F1A-7AEB-F0B785E1E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989" y="951999"/>
            <a:ext cx="3849009" cy="5518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48137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562</Words>
  <Application>Microsoft Office PowerPoint</Application>
  <PresentationFormat>Широкоэкранный</PresentationFormat>
  <Paragraphs>70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Garamond</vt:lpstr>
      <vt:lpstr>Тема Office</vt:lpstr>
      <vt:lpstr>ВНЕШНЯЯ ПОЛИТИКА ПЕТРА  I </vt:lpstr>
      <vt:lpstr> </vt:lpstr>
      <vt:lpstr> </vt:lpstr>
      <vt:lpstr>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THE BUB</dc:creator>
  <cp:lastModifiedBy>THE BUB</cp:lastModifiedBy>
  <cp:revision>6</cp:revision>
  <dcterms:created xsi:type="dcterms:W3CDTF">2025-03-03T12:01:43Z</dcterms:created>
  <dcterms:modified xsi:type="dcterms:W3CDTF">2025-03-05T18:08:10Z</dcterms:modified>
</cp:coreProperties>
</file>